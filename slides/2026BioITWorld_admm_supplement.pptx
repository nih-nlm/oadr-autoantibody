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C4F"/>
                </a:solidFill>
                <a:latin typeface="Calibri"/>
              </a:rPr>
              <a:t>Aggregation rule depends on the predictive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i="1">
                <a:solidFill>
                  <a:srgbClr val="333333"/>
                </a:solidFill>
                <a:latin typeface="Calibri"/>
              </a:rPr>
              <a:t>Per-method federation protocols evaluated in this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Multiple Linear Regression — FedAvg-by-N (weighted mean of coefficients, weights proportional to per-institution training size)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Lasso — ADMM consensus (Boyd 2011 §8.2): local ridge-style fits plus a coordinator soft-thresholding step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Random Forest — union of forests: each institution trains a forest; test predictions are averaged across all institutions' forests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Plain CNN — multi-round FedAvg with synchronisation: every round, each institution warm-starts from a common parameter vector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Autoencoder + CNN — two-stage: per-institution AE pretraining, then a supervised head on top of the federated encoder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BioIT World 2026  •  Federated Lasso supplement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C4F"/>
                </a:solidFill>
                <a:latin typeface="Calibri"/>
              </a:rPr>
              <a:t>ADMM-Lasso: definition and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i="1">
                <a:solidFill>
                  <a:srgbClr val="333333"/>
                </a:solidFill>
                <a:latin typeface="Calibri"/>
              </a:rPr>
              <a:t>Alternating Direction Method of Multipliers applied to Least Absolute Shrinkage and Selection Operator regression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502920"/>
          </a:xfrm>
          <a:prstGeom prst="roundRect">
            <a:avLst/>
          </a:prstGeom>
          <a:solidFill>
            <a:srgbClr val="1F2C4F"/>
          </a:solidFill>
          <a:ln w="9525">
            <a:solidFill>
              <a:srgbClr val="1F2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What the algorithm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Splits the L1-penalised regression into a local subproblem at each institution plus one coordinator step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Local update at each institution: closed-form ridge fit using only that institution's data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Coordinator update: soft-thresholding applied once per round to the consensus coefficient vector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Iterates until the per-institution coefficient vectors converge to the consensus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45920"/>
            <a:ext cx="5486400" cy="502920"/>
          </a:xfrm>
          <a:prstGeom prst="roundRect">
            <a:avLst/>
          </a:prstGeom>
          <a:solidFill>
            <a:srgbClr val="1F2C4F"/>
          </a:solidFill>
          <a:ln w="9525">
            <a:solidFill>
              <a:srgbClr val="1F2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Three steps per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2286000"/>
            <a:ext cx="54864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1. Local: each institution updates its β_k from its own data and the current consensus vector z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2. Coordinator: z is updated as the soft-thresholded average of β_k + u_k across institutions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3. Dual: each institution updates u_k = u_k + β_k − z, accumulating drift from consensus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Network exchange: β_k + u_k up, z down. Subject-level data never leave the institution.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989320"/>
            <a:ext cx="11274552" cy="502920"/>
          </a:xfrm>
          <a:prstGeom prst="roundRect">
            <a:avLst/>
          </a:prstGeom>
          <a:solidFill>
            <a:srgbClr val="F4F4F6"/>
          </a:solidFill>
          <a:ln w="9525">
            <a:solidFill>
              <a:srgbClr val="1F2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Boyd, Parikh, Chu, Peleato, Eckstein (2011). Distributed Optimization and Statistical Learning via the Alternating Direction Method of Multipliers. Foundations and Trends in Machine Learning 3(1):1–122.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BioIT World 2026  •  Federated Lasso supplement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C4F"/>
                </a:solidFill>
                <a:latin typeface="Calibri"/>
              </a:rPr>
              <a:t>Lasso aggregation rule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i="1">
                <a:solidFill>
                  <a:srgbClr val="333333"/>
                </a:solidFill>
                <a:latin typeface="Calibri"/>
              </a:rPr>
              <a:t>Panel A, 9 features, N=150 across 4 institutions, α=0.05, 5-fold stratified-by-Study CV</a:t>
            </a:r>
          </a:p>
        </p:txBody>
      </p:sp>
      <p:pic>
        <p:nvPicPr>
          <p:cNvPr id="4" name="Picture 3" descr="lasso_aggreg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30000" cy="47625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760720"/>
            <a:ext cx="11274552" cy="777240"/>
          </a:xfrm>
          <a:prstGeom prst="roundRect">
            <a:avLst/>
          </a:prstGeom>
          <a:solidFill>
            <a:srgbClr val="1F2C4F"/>
          </a:solidFill>
          <a:ln w="9525">
            <a:solidFill>
              <a:srgbClr val="1F2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ADMM-Lasso coefficient agreement with pooled: ||β̂_ADMM − β̂_pooled||_∞ = 0 (Panel A, 95 iterations). Median federation keeps 1/9 features; FedAvg-by-N keeps 5/9; ADMM and pooled both keep 0/9 at this 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BioIT World 2026  •  Federated Lasso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C4F"/>
                </a:solidFill>
                <a:latin typeface="Calibri"/>
              </a:rPr>
              <a:t>Post-Lasso pipeline: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i="1">
                <a:solidFill>
                  <a:srgbClr val="333333"/>
                </a:solidFill>
                <a:latin typeface="Calibri"/>
              </a:rPr>
              <a:t>Federated feature selection followed by per-method refit on the selected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11274552" cy="502920"/>
          </a:xfrm>
          <a:prstGeom prst="roundRect">
            <a:avLst/>
          </a:prstGeom>
          <a:solidFill>
            <a:srgbClr val="B01F24"/>
          </a:solidFill>
          <a:ln w="9525">
            <a:solidFill>
              <a:srgbClr val="1F2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11274552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Step 1: ADMM-Lasso runs across institutions; coefficients with magnitude greater than 1e-6 define the selected feature set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Step 2: MLR (FedAvg-by-N), Lasso (ADMM), and Random Forest (union of forests) are refit on the selected feature set under their respective aggregation rules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Step 3: 5-fold stratified-by-Study cross-validation; selection and refit occur inside each training fold (no leakage between folds)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Reference for the post-Lasso refit framework: Belloni &amp; Chernozhukov (2013). Least squares after model selection in high-dimensional sparse models. Bernoulli 19(2):521–547.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029200"/>
            <a:ext cx="11274552" cy="502920"/>
          </a:xfrm>
          <a:prstGeom prst="roundRect">
            <a:avLst/>
          </a:prstGeom>
          <a:solidFill>
            <a:srgbClr val="216E7E"/>
          </a:solidFill>
          <a:ln w="9525">
            <a:solidFill>
              <a:srgbClr val="1F2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Configurations evaluated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Panel A (9 features) with all 4 institutions and excluding SDY1737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Panel B (19 features) with all 3 institutions and excluding SDY1737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BioIT World 2026  •  Federated Lasso supplement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C4F"/>
                </a:solidFill>
                <a:latin typeface="Calibri"/>
              </a:rPr>
              <a:t>Sensitivity analysis: Panel B excluding SDY1737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i="1">
                <a:solidFill>
                  <a:srgbClr val="333333"/>
                </a:solidFill>
                <a:latin typeface="Calibri"/>
              </a:rPr>
              <a:t>Pre-specified rationale and per-study held-out R²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502920"/>
          </a:xfrm>
          <a:prstGeom prst="roundRect">
            <a:avLst/>
          </a:prstGeom>
          <a:solidFill>
            <a:srgbClr val="1F2C4F"/>
          </a:solidFill>
          <a:ln w="9525">
            <a:solidFill>
              <a:srgbClr val="1F2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4864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Smallest of the three Panel B cohorts (N=16)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Includes the &gt;30 age stratum, absent from the other studies — flagged in the data loader as a schema mismatch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Different clinical recruitment: older subjects, longer disease-duration distribution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Lowest per-study held-out R² under every method tested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45920"/>
            <a:ext cx="5486400" cy="502920"/>
          </a:xfrm>
          <a:prstGeom prst="roundRect">
            <a:avLst/>
          </a:prstGeom>
          <a:solidFill>
            <a:srgbClr val="B01F24"/>
          </a:solidFill>
          <a:ln w="9525">
            <a:solidFill>
              <a:srgbClr val="1F2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Per-study held-out R² (Panel B, full cohort, ADMM federation)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2286000"/>
            <a:ext cx="54864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SDY524 (N=72): R² = +0.117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SDY569 (N=10): R² = +0.321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SDY1737 (N=16): R² = −0.301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669280"/>
            <a:ext cx="11274552" cy="640080"/>
          </a:xfrm>
          <a:prstGeom prst="roundRect">
            <a:avLst/>
          </a:prstGeom>
          <a:solidFill>
            <a:srgbClr val="F4F4F6"/>
          </a:solidFill>
          <a:ln w="9525">
            <a:solidFill>
              <a:srgbClr val="1F2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300" b="0">
                <a:solidFill>
                  <a:srgbClr val="1F2C4F"/>
                </a:solidFill>
                <a:latin typeface="Calibri"/>
              </a:rPr>
              <a:t>Both configurations (with and without SDY1737) are reported as paired numbers in the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BioIT World 2026  •  Federated Lasso supplement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C4F"/>
                </a:solidFill>
                <a:latin typeface="Calibri"/>
              </a:rPr>
              <a:t>Post-Lasso pipeline: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i="1">
                <a:solidFill>
                  <a:srgbClr val="333333"/>
                </a:solidFill>
                <a:latin typeface="Calibri"/>
              </a:rPr>
              <a:t>MSE, R², and achieved statistical power across 4 configurations × 3 methods</a:t>
            </a:r>
          </a:p>
        </p:txBody>
      </p:sp>
      <p:pic>
        <p:nvPicPr>
          <p:cNvPr id="4" name="Picture 3" descr="admm_post_lasso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11430000" cy="3810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715000"/>
            <a:ext cx="11274552" cy="777240"/>
          </a:xfrm>
          <a:prstGeom prst="roundRect">
            <a:avLst/>
          </a:prstGeom>
          <a:solidFill>
            <a:srgbClr val="1F2C4F"/>
          </a:solidFill>
          <a:ln w="9525">
            <a:solidFill>
              <a:srgbClr val="1F2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Panel B without SDY1737: MLR FedAvg-by-N MSE=0.112, R²=+0.354, achieved power=1.000. Lasso ADMM MSE=0.116, R²=+0.329, power=1.000. RF union MSE=0.135, R²=+0.221, power=0.977.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BioIT World 2026  •  Federated Lasso supplement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C4F"/>
                </a:solidFill>
                <a:latin typeface="Calibri"/>
              </a:rPr>
              <a:t>Features selected by ADMM-Lasso (Panel B excluding SDY1737, α=0.008)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i="1">
                <a:solidFill>
                  <a:srgbClr val="333333"/>
                </a:solidFill>
                <a:latin typeface="Calibri"/>
              </a:rPr>
              <a:t>Coefficients on standardised features; sign indicates direction of association with log(C-peptide AUC)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017520" cy="777240"/>
          </a:xfrm>
          <a:prstGeom prst="roundRect">
            <a:avLst/>
          </a:prstGeom>
          <a:solidFill>
            <a:srgbClr val="1F2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 bIns="73152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weight_kg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coefficient = +0.97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801368"/>
            <a:ext cx="8092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Continuous body mass measurement in kilograms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3017520" cy="777240"/>
          </a:xfrm>
          <a:prstGeom prst="roundRect">
            <a:avLst/>
          </a:prstGeom>
          <a:solidFill>
            <a:srgbClr val="B0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 bIns="73152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GAD65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coefficient = −0.12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761488"/>
            <a:ext cx="8092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Glutamic acid decarboxylase 65 autoantibody level (standardised)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11880"/>
            <a:ext cx="3017520" cy="777240"/>
          </a:xfrm>
          <a:prstGeom prst="roundRect">
            <a:avLst/>
          </a:prstGeom>
          <a:solidFill>
            <a:srgbClr val="21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 bIns="73152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received_active_treatment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coefficient = +0.08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721608"/>
            <a:ext cx="8092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Indicator: 1 if subject was on hOKT3 anti-CD3 arm of SDY524, 0 otherwise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72000"/>
            <a:ext cx="3017520" cy="777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 bIns="73152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Sex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coefficient = +0.06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681728"/>
            <a:ext cx="8092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Binary sex indicator (encoding-dependent direction)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60720"/>
            <a:ext cx="11274552" cy="685800"/>
          </a:xfrm>
          <a:prstGeom prst="roundRect">
            <a:avLst/>
          </a:prstGeom>
          <a:solidFill>
            <a:srgbClr val="F4F4F6"/>
          </a:solidFill>
          <a:ln w="9525">
            <a:solidFill>
              <a:srgbClr val="1F2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Features with coefficient equal to zero: IA2IC, ZNT8, ICA, MIAA, height_cm, BMI, age_years, disease_duration_years, race indicators (4 levels), ethnicity indicators (2 levels), bmi_missing.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BioIT World 2026  •  Federated Lasso supplement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C4F"/>
                </a:solidFill>
                <a:latin typeface="Calibri"/>
              </a:rPr>
              <a:t>Statistical power vs federation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i="1">
                <a:solidFill>
                  <a:srgbClr val="333333"/>
                </a:solidFill>
                <a:latin typeface="Calibri"/>
              </a:rPr>
              <a:t>Panel A, 9 features, α=0.05  •  Solid: theoretical power at assumed effect sizes  •  Dashed: power at empirical effect sizes</a:t>
            </a:r>
          </a:p>
        </p:txBody>
      </p:sp>
      <p:pic>
        <p:nvPicPr>
          <p:cNvPr id="4" name="Picture 3" descr="federated_power_headline_hon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417320"/>
            <a:ext cx="6519672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669280"/>
            <a:ext cx="11274552" cy="777240"/>
          </a:xfrm>
          <a:prstGeom prst="roundRect">
            <a:avLst/>
          </a:prstGeom>
          <a:solidFill>
            <a:srgbClr val="1F2C4F"/>
          </a:solidFill>
          <a:ln w="9525">
            <a:solidFill>
              <a:srgbClr val="1F2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Power values along the federation path at assumed R²=0.15: cohort size 10 — model not fittable (k &gt; n−1); cohort size 26 — power 0.17; cohort size 75 — power 0.65; cohort size 150 — power 0.96. Empirical Panel A R² ≈ 0: power remains at the α floor across all cohort sizes.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BioIT World 2026  •  Federated Lasso supplement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C4F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Federation across more institutions reduces held-out MSE for interpretable methods on Panel A (per the k-axis comparison in the main deck).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Multi-round federation continues to reduce MSE for the deep methods until a plateau; the AE+CNN final MSE matches single-round federated Lasso.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Statistical power scales with cohort size; federation lifts the maximum detectable effect size of the experimental design.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Aggregation rule depends on the method: FedAvg-by-N for MLR, ADMM for Lasso, union of forests for Random Forest, multi-round FedAvg for CNNs.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ADMM-Lasso under federation recovers the centralised Lasso solution to machine precision in 95–316 iterations across Panel A and Panel B.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Post-Lasso pipeline on Panel B excluding SDY1737 with 4 selected features (weight_kg, GAD65, received_active_treatment, Sex): MSE = 0.112, R² = +0.354, achieved power = 1.000.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Next step: Nextflow port. Each ADMM iteration maps to one Nextflow round; the local update is one process per institution; the coordinator update is one aggregation process.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999999"/>
                </a:solidFill>
                <a:latin typeface="Calibri"/>
              </a:rPr>
              <a:t>BioIT World 2026  •  Federated Lasso supplement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