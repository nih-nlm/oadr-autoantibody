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1"/>
    <p:sldId id="264" r:id="rId10"/>
  </p:sldIdLst>
  <p:sldSz cy="6858000" cx="12192000"/>
  <p:notesSz cx="6858000" cy="9144000"/>
  <p:embeddedFontLst>
    <p:embeddedFont>
      <p:font typeface="Play"/>
      <p:regular r:id="rId19"/>
      <p:bold r:id="rId20"/>
    </p:embeddedFont>
    <p:embeddedFont>
      <p:font typeface="Robo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gnGv2n72gC6w/9PbXlCLlcTFAg5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1" Type="http://schemas.openxmlformats.org/officeDocument/2006/relationships/slide" Target="slides/slide8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font" Target="fonts/Play-regular.fntdata"/><Relationship Id="rId20" Type="http://schemas.openxmlformats.org/officeDocument/2006/relationships/font" Target="fonts/Play-bold.fntdata"/><Relationship Id="rId21" Type="http://schemas.openxmlformats.org/officeDocument/2006/relationships/font" Target="fonts/Roboto-regular.fntdata"/><Relationship Id="rId22" Type="http://schemas.openxmlformats.org/officeDocument/2006/relationships/font" Target="fonts/Roboto-bold.fntdata"/><Relationship Id="rId23" Type="http://schemas.openxmlformats.org/officeDocument/2006/relationships/font" Target="fonts/Roboto-italic.fntdata"/><Relationship Id="rId24" Type="http://schemas.openxmlformats.org/officeDocument/2006/relationships/font" Target="fonts/Roboto-boldItalic.fntdata"/><Relationship Id="rId25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600" b="1">
                <a:solidFill>
                  <a:srgbClr val="212121"/>
                </a:solidFill>
                <a:latin typeface="Calibri"/>
              </a:rPr>
              <a:t>The biological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Type 1 Diabetes destroys insulin-producing beta cells of the pancreatic islets.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C-peptide (released one-to-one with insulin during a four-hour meal challenge) is the field-standard quantitative readout of how many functional beta cells remain.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The five-autoantibody panel (GAD65, IA-2, MIAA / insulin, ICA, ZnT8) is the immune signature of the destruction process.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Question: can the autoantibody profile that signals destruction predict the beta-cell function that survives 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2200" b="1">
                <a:solidFill>
                  <a:srgbClr val="8B1A1A"/>
                </a:solidFill>
                <a:latin typeface="Calibri"/>
              </a:rPr>
              <a:t>If the panel were sufficient, single-institution studies would already have shown 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600" b="1">
                <a:solidFill>
                  <a:srgbClr val="212121"/>
                </a:solidFill>
                <a:latin typeface="Calibri"/>
              </a:rPr>
              <a:t>Four institutional cohorts, no pooling allowed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SDY524 (N = 75), SDY569 (N = 10), SDY797 (N = 49), SDY1737 (N = 16).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Total panel A cohort: 150 subjects across four independent ImmPort studies.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Each cohort sits behind institutional data-use governance — privacy, IRB, and policy block centralisation.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Federated learning: each institution trains locally; only model parameters leave the institution; the coordinator aggregates by per-feature median across institutions.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2200" b="1">
                <a:solidFill>
                  <a:srgbClr val="8B1A1A"/>
                </a:solidFill>
                <a:latin typeface="Calibri"/>
              </a:rPr>
              <a:t>The methodological question is not centralised, but federated.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600" b="1">
                <a:solidFill>
                  <a:srgbClr val="212121"/>
                </a:solidFill>
                <a:latin typeface="Calibri"/>
              </a:rPr>
              <a:t>Result 1: more institutions → lower prediction error</a:t>
            </a:r>
          </a:p>
        </p:txBody>
      </p:sp>
      <p:pic>
        <p:nvPicPr>
          <p:cNvPr id="3" name="Picture 2" descr="federated_kaxi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42314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280160"/>
            <a:ext cx="42976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Mean prediction error drops as more institutions participate.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Simple linear regression: 1.03 (solo) → 0.33 (four-institution federation). A 3× improvement.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Lasso: 0.45 → 0.24.   Random Forest: 0.37 → 0.25.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Naive convolutional network gets WORSE with federation.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Autoencoder pretraining is required to make deep learning work under federation.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2200" b="1">
                <a:solidFill>
                  <a:srgbClr val="8B1A1A"/>
                </a:solidFill>
                <a:latin typeface="Calibri"/>
              </a:rPr>
              <a:t>Interpretable models benefit immediately; deep models need the autoencoder.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600" b="1">
                <a:solidFill>
                  <a:srgbClr val="212121"/>
                </a:solidFill>
                <a:latin typeface="Calibri"/>
              </a:rPr>
              <a:t>Result 2: multi-round federation extracts further benefit</a:t>
            </a:r>
          </a:p>
        </p:txBody>
      </p:sp>
      <p:pic>
        <p:nvPicPr>
          <p:cNvPr id="3" name="Picture 2" descr="federated_round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6949440" cy="42314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280160"/>
            <a:ext cx="42976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Each round: each institution warm-starts from the previous round's aggregated parameters, retrains locally, re-aggregates.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Autoencoder + head: clean monotonic descent, plateaus at MSE 0.245 by round 4.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Plain convolutional network: round-2 jump is recovery from random initialisation; rounds 3+ degrade.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Deep model with autoencoder lands at the same MSE the regularised linear model reaches in one round.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2200" b="1">
                <a:solidFill>
                  <a:srgbClr val="8B1A1A"/>
                </a:solidFill>
                <a:latin typeface="Calibri"/>
              </a:rPr>
              <a:t>Under proper federation, the deep model has no architectural premium.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600" b="1">
                <a:solidFill>
                  <a:srgbClr val="212121"/>
                </a:solidFill>
                <a:latin typeface="Calibri"/>
              </a:rPr>
              <a:t>Which institution is added first matters</a:t>
            </a:r>
          </a:p>
        </p:txBody>
      </p:sp>
      <p:pic>
        <p:nvPicPr>
          <p:cNvPr id="3" name="Picture 2" descr="federated_ordered_pa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7680960" cy="31566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1280160"/>
            <a:ext cx="3749039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Left panel: largest institution first, adding smaller ones in turn.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Right panel: smallest institution first, adding larger ones.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Smallest-first path tells the operational story: a small institution joining the federation goes from N = 10 alone to N = 150 federated.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Statistical power follows: from "cannot fit a 9-feature model" alone to 96 % power at the full cohort.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2200" b="1">
                <a:solidFill>
                  <a:srgbClr val="8B1A1A"/>
                </a:solidFill>
                <a:latin typeface="Calibri"/>
              </a:rPr>
              <a:t>Small institutions gain most; large institutions still gain from new partners.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600" b="1">
                <a:solidFill>
                  <a:srgbClr val="212121"/>
                </a:solidFill>
                <a:latin typeface="Calibri"/>
              </a:rPr>
              <a:t>Result 3: federation lifts the statistical-power ceiling</a:t>
            </a:r>
          </a:p>
        </p:txBody>
      </p:sp>
      <p:pic>
        <p:nvPicPr>
          <p:cNvPr id="3" name="Picture 2" descr="federated_power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6766560" cy="40083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2200" b="1">
                <a:solidFill>
                  <a:srgbClr val="8B1A1A"/>
                </a:solidFill>
                <a:latin typeface="Calibri"/>
              </a:rPr>
              <a:t>Federation is the device that delivers cohort size — and statistical power — without moving data.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349240"/>
            <a:ext cx="6766560" cy="5029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300" i="1">
                <a:solidFill>
                  <a:srgbClr val="666666"/>
                </a:solidFill>
                <a:latin typeface="Calibri"/>
              </a:rPr>
              <a:t>Statistical power at biological effect size R² = 0.15 (moderate; Cohen's f² ≈ 0.18, α = 0.05)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1371600"/>
            <a:ext cx="466344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Calibri"/>
              </a:rPr>
              <a:t>•  N = 10  (one small institution, alone)</a:t>
            </a:r>
          </a:p>
          <a:p>
            <a:pPr algn="l"/>
            <a:r>
              <a:rPr sz="1400" b="1">
                <a:solidFill>
                  <a:srgbClr val="333333"/>
                </a:solidFill>
                <a:latin typeface="Calibri"/>
              </a:rPr>
              <a:t>    → cannot fit a 9-feature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331720"/>
            <a:ext cx="466344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Calibri"/>
              </a:rPr>
              <a:t>•  N = 26  (two institutions federated)</a:t>
            </a:r>
          </a:p>
          <a:p>
            <a:pPr algn="l"/>
            <a:r>
              <a:rPr sz="1400" b="1">
                <a:solidFill>
                  <a:srgbClr val="333333"/>
                </a:solidFill>
                <a:latin typeface="Calibri"/>
              </a:rPr>
              <a:t>    → 17 % power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3291840"/>
            <a:ext cx="466344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Calibri"/>
              </a:rPr>
              <a:t>•  N = 75  (three institutions federated)</a:t>
            </a:r>
          </a:p>
          <a:p>
            <a:pPr algn="l"/>
            <a:r>
              <a:rPr sz="1400" b="1">
                <a:solidFill>
                  <a:srgbClr val="C9A961"/>
                </a:solidFill>
                <a:latin typeface="Calibri"/>
              </a:rPr>
              <a:t>    → 65 % power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4251960"/>
            <a:ext cx="466344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Calibri"/>
              </a:rPr>
              <a:t>•  N = 150 (four institutions federated)</a:t>
            </a:r>
          </a:p>
          <a:p>
            <a:pPr algn="l"/>
            <a:r>
              <a:rPr sz="1400" b="1">
                <a:solidFill>
                  <a:srgbClr val="8B1A1A"/>
                </a:solidFill>
                <a:latin typeface="Calibri"/>
              </a:rPr>
              <a:t>    → 96 % power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600" b="1">
                <a:solidFill>
                  <a:srgbClr val="212121"/>
                </a:solidFill>
                <a:latin typeface="Calibri"/>
              </a:rPr>
              <a:t>The biological surprise: autoantibodies alone are not enough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88136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On the 9-feature autoantibody panel: every model produces a NEGATIVE cross-validation R² — the panel does not predict residual beta-cell function on its own.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Adding the extended feature panel (body mass index, height, weight, exact age, disease duration, race, ethnicity, treatment cohort): lasso finds a real predictive effect (R² ≈ 0.09).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Dominant predictive features identified by lasso (selection frequency across bootstrap subsamples):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57600"/>
            <a:ext cx="10241280" cy="38404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Calibri"/>
              </a:rPr>
              <a:t>   Weight (kg)   </a:t>
            </a:r>
            <a:r>
              <a:rPr sz="1800">
                <a:solidFill>
                  <a:srgbClr val="666666"/>
                </a:solidFill>
                <a:latin typeface="Calibri"/>
              </a:rPr>
              <a:t>— 89 %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023360"/>
            <a:ext cx="10241280" cy="38404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Calibri"/>
              </a:rPr>
              <a:t>   Sex   </a:t>
            </a:r>
            <a:r>
              <a:rPr sz="1800">
                <a:solidFill>
                  <a:srgbClr val="666666"/>
                </a:solidFill>
                <a:latin typeface="Calibri"/>
              </a:rPr>
              <a:t>— 82 %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389120"/>
            <a:ext cx="10241280" cy="38404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Calibri"/>
              </a:rPr>
              <a:t>   Treatment cohort: Pediatric   </a:t>
            </a:r>
            <a:r>
              <a:rPr sz="1800">
                <a:solidFill>
                  <a:srgbClr val="666666"/>
                </a:solidFill>
                <a:latin typeface="Calibri"/>
              </a:rPr>
              <a:t>— 72 %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10241280" cy="38404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Calibri"/>
              </a:rPr>
              <a:t>   Treatment cohort: Control   </a:t>
            </a:r>
            <a:r>
              <a:rPr sz="1800">
                <a:solidFill>
                  <a:srgbClr val="666666"/>
                </a:solidFill>
                <a:latin typeface="Calibri"/>
              </a:rPr>
              <a:t>— 64 %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120640"/>
            <a:ext cx="10241280" cy="38404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Calibri"/>
              </a:rPr>
              <a:t>   All five autoantibodies   </a:t>
            </a:r>
            <a:r>
              <a:rPr sz="1800">
                <a:solidFill>
                  <a:srgbClr val="666666"/>
                </a:solidFill>
                <a:latin typeface="Calibri"/>
              </a:rPr>
              <a:t>— 27 – 49 %  (mostly drop out)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2200" b="1">
                <a:solidFill>
                  <a:srgbClr val="8B1A1A"/>
                </a:solidFill>
                <a:latin typeface="Calibri"/>
              </a:rPr>
              <a:t>The prediction lives in body composition and treatment context — not in the antibody panel alone.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600" b="1">
                <a:solidFill>
                  <a:srgbClr val="212121"/>
                </a:solidFill>
                <a:latin typeface="Calibri"/>
              </a:rPr>
              <a:t>Three takeaway 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 b="1">
                <a:solidFill>
                  <a:srgbClr val="212121"/>
                </a:solidFill>
                <a:latin typeface="Calibri"/>
              </a:rPr>
              <a:t>•  Federation delivers cohort sizes single sites cannot reach.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74520"/>
            <a:ext cx="1060704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700">
                <a:solidFill>
                  <a:srgbClr val="333333"/>
                </a:solidFill>
                <a:latin typeface="Calibri"/>
              </a:rPr>
              <a:t>Predictive performance improves two- to three-fold for interpretable methods. Statistical power rises from "cannot fit" to detection of biologically plausible effects. No subject data leaves any institution.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97280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 b="1">
                <a:solidFill>
                  <a:srgbClr val="212121"/>
                </a:solidFill>
                <a:latin typeface="Calibri"/>
              </a:rPr>
              <a:t>•  Autoencoder pretraining is what makes deep-learning federation 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429000"/>
            <a:ext cx="1060704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700">
                <a:solidFill>
                  <a:srgbClr val="333333"/>
                </a:solidFill>
                <a:latin typeface="Calibri"/>
              </a:rPr>
              <a:t>Without it, naive parameter aggregation across independently-trained networks actively degrades the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80560"/>
            <a:ext cx="1097280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200" b="1">
                <a:solidFill>
                  <a:srgbClr val="212121"/>
                </a:solidFill>
                <a:latin typeface="Calibri"/>
              </a:rPr>
              <a:t>•  The autoantibody profile alone is insufficient.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983480"/>
            <a:ext cx="1060704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1700">
                <a:solidFill>
                  <a:srgbClr val="333333"/>
                </a:solidFill>
                <a:latin typeface="Calibri"/>
              </a:rPr>
              <a:t>Body composition and treatment context carry the prediction. The translational path forward requires institutions to record body composition alongside antibody panels.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600" b="1">
                <a:solidFill>
                  <a:srgbClr val="212121"/>
                </a:solidFill>
                <a:latin typeface="Calibri"/>
              </a:rPr>
              <a:t>Next step: from Jupyter simulation to federated Nextflow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This work simulated federation in a single Jupyter notebook. Next step: port the protocol to a Nextflow workflow that runs on the real federated platform across the four institutions.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Each per-institution training step becomes a Nextflow process; aggregation becomes a single coordinator process; the round loop becomes Nextflow iteration.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Coordinated optimisation (federated ADMM-lasso) replaces median aggregation for sharper feature selection on small heterogeneous cohorts.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Deployment target: the Lifebit CloudOS federated platform, in partnership with NLM's OADR initiative.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2200" b="1">
                <a:solidFill>
                  <a:srgbClr val="8B1A1A"/>
                </a:solidFill>
                <a:latin typeface="Calibri"/>
              </a:rPr>
              <a:t>Scientific idea  →  Jupyter notebook  →  Nextflow workflow  →  federated execution.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2024-03-22T01:26:33Z</dcterms:created>
  <dc:creator>Pat Capobianco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0x010100526991E0B3F2D848B8219B40F7FF9DCC</vt:lpwstr>
  </property>
</Properties>
</file>